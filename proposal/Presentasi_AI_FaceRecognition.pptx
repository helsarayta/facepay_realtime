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381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D4A017"/>
                </a:solidFill>
                <a:latin typeface="Calibri"/>
              </a:rPr>
              <a:t>LAPORAN AI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Implementasi Sistem Pembayaran Berbasis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Pengenalan Wajah dengan Deteksi Anti-Spoofing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C9D3E0"/>
                </a:solidFill>
                <a:latin typeface="Calibri"/>
              </a:rPr>
              <a:t>Fokus: Algoritma Kecerdasan Buatan (Computer Vision &amp; Deep Learning)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Heydie Zuliansyah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C9D3E0"/>
                </a:solidFill>
                <a:latin typeface="Calibri"/>
              </a:rPr>
              <a:t>NIM: 223250047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C9D3E0"/>
                </a:solidFill>
                <a:latin typeface="Calibri"/>
              </a:rPr>
              <a:t>Program Studi Teknik Informatika — Universitas AKI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5606A"/>
                </a:solidFill>
                <a:latin typeface="Calibri"/>
              </a:rPr>
              <a:t>Semarang,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4A017"/>
                </a:solidFill>
                <a:latin typeface="Calibri"/>
              </a:rPr>
              <a:t>1 · LATAR BELAKANG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Masalah yang Diselesaikan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F26"/>
                </a:solidFill>
                <a:latin typeface="Calibri"/>
              </a:rPr>
              <a:t>Otentikasi pembayaran (PIN, kartu) bisa hilang, dicuri, atau dipindahtangankan. Biometrik wajah melekat pada pengguna — namun memunculkan dua tantangan AI: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5394960" cy="2286000"/>
          </a:xfrm>
          <a:prstGeom prst="rect">
            <a:avLst/>
          </a:prstGeom>
          <a:solidFill>
            <a:srgbClr val="F2F4F7"/>
          </a:solidFill>
          <a:ln w="15875">
            <a:solidFill>
              <a:srgbClr val="CF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2542032"/>
            <a:ext cx="457200" cy="457200"/>
          </a:xfrm>
          <a:prstGeom prst="ellipse">
            <a:avLst/>
          </a:prstGeom>
          <a:solidFill>
            <a:srgbClr val="CF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23744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F26"/>
                </a:solidFill>
                <a:latin typeface="Calibri"/>
              </a:rPr>
              <a:t>Akurasi Identifikasi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090672"/>
            <a:ext cx="49926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5606A"/>
                </a:solidFill>
                <a:latin typeface="Calibri"/>
              </a:rPr>
              <a:t>Sistem harus membedakan pemilik akun dari orang lain (impostor). Pendekatan klasik berbasis piksel mentah + jarak Euclidean GAGAL: wajah orang berbeda bisa diterima sebagai pemilik akun (false acceptance).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377440"/>
            <a:ext cx="5394960" cy="2286000"/>
          </a:xfrm>
          <a:prstGeom prst="rect">
            <a:avLst/>
          </a:prstGeom>
          <a:solidFill>
            <a:srgbClr val="F2F4F7"/>
          </a:solidFill>
          <a:ln w="1587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82512" y="2542032"/>
            <a:ext cx="457200" cy="457200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523744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F26"/>
                </a:solidFill>
                <a:latin typeface="Calibri"/>
              </a:rPr>
              <a:t>Serangan Pemalsuan (Spoofing)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090672"/>
            <a:ext cx="49926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5606A"/>
                </a:solidFill>
                <a:latin typeface="Calibri"/>
              </a:rPr>
              <a:t>Tanpa pengaman, sistem bisa dikelabui hanya dengan menunjukkan FOTO atau tayangan video wajah korban ke kamera. Pada sistem pembayaran, celah ini langsung berarti kerugian finansial.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834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55606A"/>
                </a:solidFill>
                <a:latin typeface="Calibri"/>
              </a:rPr>
              <a:t>Tujuan: membangun prototipe pembayaran berbasis wajah yang AKURAT (anti tertukar identitas) dan AMAN (anti foto), lalu mengujinya secara nyata end-to-end.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606A"/>
                </a:solidFill>
                <a:latin typeface="Calibri"/>
              </a:rPr>
              <a:t>Sistem Pembayaran Berbasis Pengenalan Wajah  ·  AI Programming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606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4A017"/>
                </a:solidFill>
                <a:latin typeface="Calibri"/>
              </a:rPr>
              <a:t>1 · SOLUSI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Pipeline AI Empat Tahap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606040" cy="2468880"/>
          </a:xfrm>
          <a:prstGeom prst="rect">
            <a:avLst/>
          </a:prstGeom>
          <a:solidFill>
            <a:srgbClr val="F2F4F7"/>
          </a:solidFill>
          <a:ln w="19050"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2606040" cy="109728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2377440"/>
            <a:ext cx="685800" cy="685800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F26"/>
                </a:solidFill>
                <a:latin typeface="Calibri"/>
              </a:rPr>
              <a:t>Deteksi Wajah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2423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55606A"/>
                </a:solidFill>
                <a:latin typeface="Calibri"/>
              </a:rPr>
              <a:t>Haar Cascade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55606A"/>
                </a:solidFill>
                <a:latin typeface="Calibri"/>
              </a:rPr>
              <a:t>(Viola-Jones)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3063240"/>
            <a:ext cx="338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D4A017"/>
                </a:solidFill>
                <a:latin typeface="Calibri"/>
              </a:rPr>
              <a:t>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2011680"/>
            <a:ext cx="2606040" cy="2468880"/>
          </a:xfrm>
          <a:prstGeom prst="rect">
            <a:avLst/>
          </a:prstGeom>
          <a:solidFill>
            <a:srgbClr val="F2F4F7"/>
          </a:solidFill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2011680"/>
            <a:ext cx="2606040" cy="10972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61688" y="2377440"/>
            <a:ext cx="685800" cy="685800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324612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F26"/>
                </a:solidFill>
                <a:latin typeface="Calibri"/>
              </a:rPr>
              <a:t>Ekstraksi Fitur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3703320"/>
            <a:ext cx="2423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55606A"/>
                </a:solidFill>
                <a:latin typeface="Calibri"/>
              </a:rPr>
              <a:t>FaceNet — embedding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55606A"/>
                </a:solidFill>
                <a:latin typeface="Calibri"/>
              </a:rPr>
              <a:t>128 dimensi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063240"/>
            <a:ext cx="338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D4A017"/>
                </a:solidFill>
                <a:latin typeface="Calibri"/>
              </a:rPr>
              <a:t>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4496" y="2011680"/>
            <a:ext cx="2606040" cy="2468880"/>
          </a:xfrm>
          <a:prstGeom prst="rect">
            <a:avLst/>
          </a:prstGeom>
          <a:solidFill>
            <a:srgbClr val="F2F4F7"/>
          </a:solidFill>
          <a:ln w="19050">
            <a:solidFill>
              <a:srgbClr val="6E40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2011680"/>
            <a:ext cx="2606040" cy="109728"/>
          </a:xfrm>
          <a:prstGeom prst="rect">
            <a:avLst/>
          </a:pr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14616" y="2377440"/>
            <a:ext cx="685800" cy="685800"/>
          </a:xfrm>
          <a:prstGeom prst="ellipse">
            <a:avLst/>
          </a:pr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24612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F26"/>
                </a:solidFill>
                <a:latin typeface="Calibri"/>
              </a:rPr>
              <a:t>Anti-Spoofing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3703320"/>
            <a:ext cx="2423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55606A"/>
                </a:solidFill>
                <a:latin typeface="Calibri"/>
              </a:rPr>
              <a:t>MiniFASNet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55606A"/>
                </a:solidFill>
                <a:latin typeface="Calibri"/>
              </a:rPr>
              <a:t>(liveness pasif)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248" y="3063240"/>
            <a:ext cx="338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D4A017"/>
                </a:solidFill>
                <a:latin typeface="Calibri"/>
              </a:rPr>
              <a:t>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07424" y="2011680"/>
            <a:ext cx="2606040" cy="2468880"/>
          </a:xfrm>
          <a:prstGeom prst="rect">
            <a:avLst/>
          </a:prstGeom>
          <a:solidFill>
            <a:srgbClr val="F2F4F7"/>
          </a:solidFill>
          <a:ln w="1905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07424" y="2011680"/>
            <a:ext cx="2606040" cy="109728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67544" y="2377440"/>
            <a:ext cx="685800" cy="685800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4" y="324612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F26"/>
                </a:solidFill>
                <a:latin typeface="Calibri"/>
              </a:rPr>
              <a:t>Pencocokan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4" y="3703320"/>
            <a:ext cx="2423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55606A"/>
                </a:solidFill>
                <a:latin typeface="Calibri"/>
              </a:rPr>
              <a:t>KNN + Cosine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55606A"/>
                </a:solidFill>
                <a:latin typeface="Calibri"/>
              </a:rPr>
              <a:t>(ambang 0,40)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55606A"/>
                </a:solidFill>
                <a:latin typeface="Calibri"/>
              </a:rPr>
              <a:t>Pipeline dibungkus sebagai REST API (Python/FastAPI), diintegrasikan dengan aplikasi perbankan (Spring Boot + PostgreSQL) dan antarmuka web yang mengakses kamera lewat peramban. Seluruhnya di-deploy pada server nyata.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606A"/>
                </a:solidFill>
                <a:latin typeface="Calibri"/>
              </a:rPr>
              <a:t>Sistem Pembayaran Berbasis Pengenalan Wajah  ·  AI Programming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606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4A017"/>
                </a:solidFill>
                <a:latin typeface="Calibri"/>
              </a:rPr>
              <a:t>2 · DOKUMENTASI TEORI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Deteksi Wajah &amp; Ekstraksi Fitur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394960" cy="4480560"/>
          </a:xfrm>
          <a:prstGeom prst="rect">
            <a:avLst/>
          </a:prstGeom>
          <a:solidFill>
            <a:srgbClr val="F2F4F7"/>
          </a:solidFill>
          <a:ln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2194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0969DA"/>
                </a:solidFill>
                <a:latin typeface="Calibri"/>
              </a:rPr>
              <a:t>Haar Cascade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4937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A1F26"/>
                </a:solidFill>
                <a:latin typeface="Calibri"/>
              </a:rPr>
              <a:t>Mendeteksi LOKASI wajah pada citra.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5606A"/>
                </a:solidFill>
                <a:latin typeface="Calibri"/>
              </a:rPr>
              <a:t>• Fitur Haar: selisih intensitas antar wilayah (mata lebih gelap dari pipi).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5606A"/>
                </a:solidFill>
                <a:latin typeface="Calibri"/>
              </a:rPr>
              <a:t>• Integral image → perhitungan sangat cepat.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5606A"/>
                </a:solidFill>
                <a:latin typeface="Calibri"/>
              </a:rPr>
              <a:t>• AdaBoost memilih fitur terbaik, disusun bertingkat (cascade).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5606A"/>
                </a:solidFill>
                <a:latin typeface="Calibri"/>
              </a:rPr>
              <a:t>• Ringan, real-time, tanpa GPU.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969DA"/>
                </a:solidFill>
                <a:latin typeface="Calibri"/>
              </a:rPr>
              <a:t>Parameter: scaleFactor=1,1 · minNeighbors=3 · minSize=50×50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394960" cy="4480560"/>
          </a:xfrm>
          <a:prstGeom prst="rect">
            <a:avLst/>
          </a:prstGeom>
          <a:solidFill>
            <a:srgbClr val="F2F4F7"/>
          </a:solidFill>
          <a:ln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691640"/>
            <a:ext cx="2194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D4A017"/>
                </a:solidFill>
                <a:latin typeface="Calibri"/>
              </a:rPr>
              <a:t>FaceNet (CNN)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40280"/>
            <a:ext cx="4937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A1F26"/>
                </a:solidFill>
                <a:latin typeface="Calibri"/>
              </a:rPr>
              <a:t>Mengubah wajah menjadi 'sidik jari' numerik.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5606A"/>
                </a:solidFill>
                <a:latin typeface="Calibri"/>
              </a:rPr>
              <a:t>• CNN dalam, dilatih dengan triplet loss.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5606A"/>
                </a:solidFill>
                <a:latin typeface="Calibri"/>
              </a:rPr>
              <a:t>• Output: vektor embedding 128 dimensi (ternormalisasi-L2).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5606A"/>
                </a:solidFill>
                <a:latin typeface="Calibri"/>
              </a:rPr>
              <a:t>• Identitas terkode pada ARAH vektor → diskriminatif.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5606A"/>
                </a:solidFill>
                <a:latin typeface="Calibri"/>
              </a:rPr>
              <a:t>• Akurasi 99,63% pada dataset LFW (Schroff dkk., 2015).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5606A"/>
                </a:solidFill>
                <a:latin typeface="Calibri"/>
              </a:rPr>
              <a:t>• One-shot: pengguna baru tak perlu latih ulang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606A"/>
                </a:solidFill>
                <a:latin typeface="Calibri"/>
              </a:rPr>
              <a:t>Sistem Pembayaran Berbasis Pengenalan Wajah  ·  AI Programming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606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4A017"/>
                </a:solidFill>
                <a:latin typeface="Calibri"/>
              </a:rPr>
              <a:t>2 · DOKUMENTASI TEORI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Pencocokan &amp; Anti-Spoofing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394960" cy="4480560"/>
          </a:xfrm>
          <a:prstGeom prst="rect">
            <a:avLst/>
          </a:prstGeom>
          <a:solidFill>
            <a:srgbClr val="F2F4F7"/>
          </a:solidFill>
          <a:ln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1A7F37"/>
                </a:solidFill>
                <a:latin typeface="Calibri"/>
              </a:rPr>
              <a:t>KNN + Cosine Distance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4937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A1F26"/>
                </a:solidFill>
                <a:latin typeface="Calibri"/>
              </a:rPr>
              <a:t>Membandingkan embedding uji dengan yang terdaftar.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5606A"/>
                </a:solidFill>
                <a:latin typeface="Calibri"/>
              </a:rPr>
              <a:t>• Jarak kosinus = sudut antar vektor (bukan Euclidean).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5606A"/>
                </a:solidFill>
                <a:latin typeface="Calibri"/>
              </a:rPr>
              <a:t>• Dipakai karena embedding ternormalisasi → arah yang penting.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5606A"/>
                </a:solidFill>
                <a:latin typeface="Calibri"/>
              </a:rPr>
              <a:t>• KNN: ambil 5 jarak terkecil (k=5), lalu dirata-rata.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A7F37"/>
                </a:solidFill>
                <a:latin typeface="Calibri"/>
              </a:rPr>
              <a:t>• Keputusan COCOK bila skor &lt; 0,40.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1A1F26"/>
                </a:solidFill>
                <a:latin typeface="Calibri"/>
              </a:rPr>
              <a:t>d = 1 − (v₁·v₂) / (‖v₁‖‖v₂‖)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394960" cy="4480560"/>
          </a:xfrm>
          <a:prstGeom prst="rect">
            <a:avLst/>
          </a:prstGeom>
          <a:solidFill>
            <a:srgbClr val="F2F4F7"/>
          </a:solidFill>
          <a:ln>
            <a:solidFill>
              <a:srgbClr val="6E40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691640"/>
            <a:ext cx="2377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E40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6E40C9"/>
                </a:solidFill>
                <a:latin typeface="Calibri"/>
              </a:rPr>
              <a:t>MiniFASNet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40280"/>
            <a:ext cx="4937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A1F26"/>
                </a:solidFill>
                <a:latin typeface="Calibri"/>
              </a:rPr>
              <a:t>Memastikan wajah ASLI &amp; hidup (bukan foto).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5606A"/>
                </a:solidFill>
                <a:latin typeface="Calibri"/>
              </a:rPr>
              <a:t>• CNN ringan, deteksi serangan presentasi dari 1 bingkai.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5606A"/>
                </a:solidFill>
                <a:latin typeface="Calibri"/>
              </a:rPr>
              <a:t>• Pasif: tanpa interaksi (tak perlu kedip/menoleh).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5606A"/>
                </a:solidFill>
                <a:latin typeface="Calibri"/>
              </a:rPr>
              <a:t>• Menganalisis tekstur kulit, pantulan, pola Moiré.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5606A"/>
                </a:solidFill>
                <a:latin typeface="Calibri"/>
              </a:rPr>
              <a:t>• Output: label is_real + skor keyakinan.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E40C9"/>
                </a:solidFill>
                <a:latin typeface="Calibri"/>
              </a:rPr>
              <a:t>• Dijalankan SEBELUM pencocokan identitas.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606A"/>
                </a:solidFill>
                <a:latin typeface="Calibri"/>
              </a:rPr>
              <a:t>Sistem Pembayaran Berbasis Pengenalan Wajah  ·  AI Programming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606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4A017"/>
                </a:solidFill>
                <a:latin typeface="Calibri"/>
              </a:rPr>
              <a:t>3 · METODOLOGI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Arsitektur Sistem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1064240" cy="960120"/>
          </a:xfrm>
          <a:prstGeom prst="rect">
            <a:avLst/>
          </a:prstGeom>
          <a:solidFill>
            <a:srgbClr val="F2F4F7"/>
          </a:solidFill>
          <a:ln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146304" cy="96012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8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969DA"/>
                </a:solidFill>
                <a:latin typeface="Calibri"/>
              </a:rPr>
              <a:t>ANTARMUKA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664208"/>
            <a:ext cx="8229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F26"/>
                </a:solidFill>
                <a:latin typeface="Calibri"/>
              </a:rPr>
              <a:t>Web SPA (Bootstrap 5) + Kamera Web (getUserMedia) — pendaftaran &amp; pembayaran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468880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606A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24912"/>
            <a:ext cx="11064240" cy="960120"/>
          </a:xfrm>
          <a:prstGeom prst="rect">
            <a:avLst/>
          </a:prstGeom>
          <a:solidFill>
            <a:srgbClr val="F2F4F7"/>
          </a:solidFill>
          <a:ln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24912"/>
            <a:ext cx="146304" cy="9601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834640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D4A017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834640"/>
            <a:ext cx="8229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F26"/>
                </a:solidFill>
                <a:latin typeface="Calibri"/>
              </a:rPr>
              <a:t>Spring Boot + JWT + PostgreSQL — otentikasi, akun &amp; saldo, transaksi, orkestrasi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63931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606A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95344"/>
            <a:ext cx="11064240" cy="960120"/>
          </a:xfrm>
          <a:prstGeom prst="rect">
            <a:avLst/>
          </a:prstGeom>
          <a:solidFill>
            <a:srgbClr val="F2F4F7"/>
          </a:solidFill>
          <a:ln>
            <a:solidFill>
              <a:srgbClr val="6E40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95344"/>
            <a:ext cx="146304" cy="960120"/>
          </a:xfrm>
          <a:prstGeom prst="rect">
            <a:avLst/>
          </a:pr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05072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E40C9"/>
                </a:solidFill>
                <a:latin typeface="Calibri"/>
              </a:rPr>
              <a:t>AI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005072"/>
            <a:ext cx="8229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F26"/>
                </a:solidFill>
                <a:latin typeface="Calibri"/>
              </a:rPr>
              <a:t>Python/FastAPI — Haar Cascade → MiniFASNet → FaceNet Embedding → KNN (Cosine)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4809744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606A"/>
                </a:solidFill>
                <a:latin typeface="Calibr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65776"/>
            <a:ext cx="11064240" cy="960120"/>
          </a:xfrm>
          <a:prstGeom prst="rect">
            <a:avLst/>
          </a:prstGeom>
          <a:solidFill>
            <a:srgbClr val="F2F4F7"/>
          </a:solidFill>
          <a:ln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065776"/>
            <a:ext cx="146304" cy="96012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75504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7F37"/>
                </a:solidFill>
                <a:latin typeface="Calibri"/>
              </a:rPr>
              <a:t>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175504"/>
            <a:ext cx="8229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F26"/>
                </a:solidFill>
                <a:latin typeface="Calibri"/>
              </a:rPr>
              <a:t>face_dataset/{user_id}.npy — matriks embedding (N × 128) + PostgreSQL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606A"/>
                </a:solidFill>
                <a:latin typeface="Calibri"/>
              </a:rPr>
              <a:t>Sistem Pembayaran Berbasis Pengenalan Wajah  ·  AI Programming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606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4A017"/>
                </a:solidFill>
                <a:latin typeface="Calibri"/>
              </a:rPr>
              <a:t>3 · METODOLOGI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Alur Pendaftaran &amp; Verifikasi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969DA"/>
                </a:solidFill>
                <a:latin typeface="Calibri"/>
              </a:rPr>
              <a:t>PENDAFTARAN (Enrollment)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394960" cy="640080"/>
          </a:xfrm>
          <a:prstGeom prst="rect">
            <a:avLst/>
          </a:prstGeom>
          <a:solidFill>
            <a:srgbClr val="F2F4F7"/>
          </a:solidFill>
          <a:ln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01952"/>
            <a:ext cx="5029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6"/>
                </a:solidFill>
                <a:latin typeface="Calibri"/>
              </a:rPr>
              <a:t>1.  Tangkap 30 bingkai dari kamera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5394960" cy="640080"/>
          </a:xfrm>
          <a:prstGeom prst="rect">
            <a:avLst/>
          </a:prstGeom>
          <a:solidFill>
            <a:srgbClr val="F2F4F7"/>
          </a:solidFill>
          <a:ln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5029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6"/>
                </a:solidFill>
                <a:latin typeface="Calibri"/>
              </a:rPr>
              <a:t>2.  Deteksi wajah (Haar) + penjajaran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11296"/>
            <a:ext cx="5394960" cy="640080"/>
          </a:xfrm>
          <a:prstGeom prst="rect">
            <a:avLst/>
          </a:prstGeom>
          <a:solidFill>
            <a:srgbClr val="F2F4F7"/>
          </a:solidFill>
          <a:ln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84448"/>
            <a:ext cx="5029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6"/>
                </a:solidFill>
                <a:latin typeface="Calibri"/>
              </a:rPr>
              <a:t>3.  Ekstrak embedding 128-d (FaceNet)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52544"/>
            <a:ext cx="5394960" cy="640080"/>
          </a:xfrm>
          <a:prstGeom prst="rect">
            <a:avLst/>
          </a:prstGeom>
          <a:solidFill>
            <a:srgbClr val="F2F4F7"/>
          </a:solidFill>
          <a:ln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425696"/>
            <a:ext cx="5029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6"/>
                </a:solidFill>
                <a:latin typeface="Calibri"/>
              </a:rPr>
              <a:t>4.  Syarat minimal 3 embedding valid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93792"/>
            <a:ext cx="5394960" cy="640080"/>
          </a:xfrm>
          <a:prstGeom prst="rect">
            <a:avLst/>
          </a:prstGeom>
          <a:solidFill>
            <a:srgbClr val="F2F4F7"/>
          </a:solidFill>
          <a:ln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266944"/>
            <a:ext cx="5029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6"/>
                </a:solidFill>
                <a:latin typeface="Calibri"/>
              </a:rPr>
              <a:t>5.  Simpan matriks (N×128) ke .npy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3716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7F37"/>
                </a:solidFill>
                <a:latin typeface="Calibri"/>
              </a:rPr>
              <a:t>VERIFIKASI PEMBAYARAN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828800"/>
            <a:ext cx="5394960" cy="640080"/>
          </a:xfrm>
          <a:prstGeom prst="rect">
            <a:avLst/>
          </a:prstGeom>
          <a:solidFill>
            <a:srgbClr val="F2F4F7"/>
          </a:solidFill>
          <a:ln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901952"/>
            <a:ext cx="5029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6"/>
                </a:solidFill>
                <a:latin typeface="Calibri"/>
              </a:rPr>
              <a:t>Tangkap 1 bingkai saat checkout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670048"/>
            <a:ext cx="5394960" cy="640080"/>
          </a:xfrm>
          <a:prstGeom prst="rect">
            <a:avLst/>
          </a:prstGeom>
          <a:solidFill>
            <a:srgbClr val="F2F4F7"/>
          </a:solidFill>
          <a:ln>
            <a:solidFill>
              <a:srgbClr val="6E40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743200"/>
            <a:ext cx="5029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6"/>
                </a:solidFill>
                <a:latin typeface="Calibri"/>
              </a:rPr>
              <a:t>Tahap 1: Anti-spoofing (MiniFASNet)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511296"/>
            <a:ext cx="5394960" cy="640080"/>
          </a:xfrm>
          <a:prstGeom prst="rect">
            <a:avLst/>
          </a:prstGeom>
          <a:solidFill>
            <a:srgbClr val="FFEBE9"/>
          </a:solidFill>
          <a:ln>
            <a:solidFill>
              <a:srgbClr val="CF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584448"/>
            <a:ext cx="5029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F222E"/>
                </a:solidFill>
                <a:latin typeface="Calibri"/>
              </a:rPr>
              <a:t>Jika palsu → TOLAK (liveness_failed)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352544"/>
            <a:ext cx="5394960" cy="640080"/>
          </a:xfrm>
          <a:prstGeom prst="rect">
            <a:avLst/>
          </a:prstGeom>
          <a:solidFill>
            <a:srgbClr val="F2F4F7"/>
          </a:solidFill>
          <a:ln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425696"/>
            <a:ext cx="5029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6"/>
                </a:solidFill>
                <a:latin typeface="Calibri"/>
              </a:rPr>
              <a:t>Tahap 2: Embedding + KNN cosine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193792"/>
            <a:ext cx="5394960" cy="640080"/>
          </a:xfrm>
          <a:prstGeom prst="rect">
            <a:avLst/>
          </a:prstGeom>
          <a:solidFill>
            <a:srgbClr val="DAFBE1"/>
          </a:solidFill>
          <a:ln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266944"/>
            <a:ext cx="5029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7F37"/>
                </a:solidFill>
                <a:latin typeface="Calibri"/>
              </a:rPr>
              <a:t>Skor &lt; 0,40 → COCOK, bayar diproses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606A"/>
                </a:solidFill>
                <a:latin typeface="Calibri"/>
              </a:rPr>
              <a:t>Sistem Pembayaran Berbasis Pengenalan Wajah  ·  AI Programming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606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CF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4A017"/>
                </a:solidFill>
                <a:latin typeface="Calibri"/>
              </a:rPr>
              <a:t>4 · HASIL &amp; PEMBAHASAN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Pendekatan Awal: Piksel + Euclidean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F26"/>
                </a:solidFill>
                <a:latin typeface="Calibri"/>
              </a:rPr>
              <a:t>Fitur = piksel mentah (vektor 30.000) · KNN jarak Euclidean · ambang 12.000. Diuji di server, dicatat dari log: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48840"/>
          <a:ext cx="11064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194560"/>
                <a:gridCol w="2194560"/>
                <a:gridCol w="2743200"/>
              </a:tblGrid>
              <a:tr h="4800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Skenario</a:t>
                      </a:r>
                    </a:p>
                  </a:txBody>
                  <a:tcPr marT="50800" marB="50800" anchor="ctr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Jarak (log)</a:t>
                      </a:r>
                    </a:p>
                  </a:txBody>
                  <a:tcPr marT="50800" marB="50800" anchor="ctr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Keputusan</a:t>
                      </a:r>
                    </a:p>
                  </a:txBody>
                  <a:tcPr marT="50800" marB="50800" anchor="ctr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Penilaian</a:t>
                      </a:r>
                    </a:p>
                  </a:txBody>
                  <a:tcPr marT="50800" marB="50800" anchor="ctr">
                    <a:solidFill>
                      <a:srgbClr val="0F1B2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1F26"/>
                          </a:solidFill>
                          <a:latin typeface="Calibri"/>
                        </a:rPr>
                        <a:t>Wajah sendiri (genuine)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1F26"/>
                          </a:solidFill>
                          <a:latin typeface="Calibri"/>
                        </a:rPr>
                        <a:t>6.576 – 7.514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1F26"/>
                          </a:solidFill>
                          <a:latin typeface="Calibri"/>
                        </a:rPr>
                        <a:t>DITERIMA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1F26"/>
                          </a:solidFill>
                          <a:latin typeface="Calibri"/>
                        </a:rPr>
                        <a:t>Benar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1F26"/>
                          </a:solidFill>
                          <a:latin typeface="Calibri"/>
                        </a:rPr>
                        <a:t>Wajah orang lain (impostor)</a:t>
                      </a:r>
                    </a:p>
                  </a:txBody>
                  <a:tcPr marT="50800" marB="50800" anchor="ctr">
                    <a:solidFill>
                      <a:srgbClr val="FFEB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1F26"/>
                          </a:solidFill>
                          <a:latin typeface="Calibri"/>
                        </a:rPr>
                        <a:t>9.874</a:t>
                      </a:r>
                    </a:p>
                  </a:txBody>
                  <a:tcPr marT="50800" marB="50800" anchor="ctr">
                    <a:solidFill>
                      <a:srgbClr val="FFEB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CF222E"/>
                          </a:solidFill>
                          <a:latin typeface="Calibri"/>
                        </a:rPr>
                        <a:t>DITERIMA</a:t>
                      </a:r>
                    </a:p>
                  </a:txBody>
                  <a:tcPr marT="50800" marB="50800" anchor="ctr">
                    <a:solidFill>
                      <a:srgbClr val="FFEB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CF222E"/>
                          </a:solidFill>
                          <a:latin typeface="Calibri"/>
                        </a:rPr>
                        <a:t>SALAH — false acceptance</a:t>
                      </a:r>
                    </a:p>
                  </a:txBody>
                  <a:tcPr marT="50800" marB="50800" anchor="ctr">
                    <a:solidFill>
                      <a:srgbClr val="FFEBE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1F26"/>
                          </a:solidFill>
                          <a:latin typeface="Calibri"/>
                        </a:rPr>
                        <a:t>Wajah orang lain (impostor)</a:t>
                      </a:r>
                    </a:p>
                  </a:txBody>
                  <a:tcPr marT="50800" marB="50800" anchor="ctr">
                    <a:solidFill>
                      <a:srgbClr val="FFEB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1F26"/>
                          </a:solidFill>
                          <a:latin typeface="Calibri"/>
                        </a:rPr>
                        <a:t>10.124</a:t>
                      </a:r>
                    </a:p>
                  </a:txBody>
                  <a:tcPr marT="50800" marB="50800" anchor="ctr">
                    <a:solidFill>
                      <a:srgbClr val="FFEB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CF222E"/>
                          </a:solidFill>
                          <a:latin typeface="Calibri"/>
                        </a:rPr>
                        <a:t>DITERIMA</a:t>
                      </a:r>
                    </a:p>
                  </a:txBody>
                  <a:tcPr marT="50800" marB="50800" anchor="ctr">
                    <a:solidFill>
                      <a:srgbClr val="FFEB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CF222E"/>
                          </a:solidFill>
                          <a:latin typeface="Calibri"/>
                        </a:rPr>
                        <a:t>SALAH — false acceptance</a:t>
                      </a:r>
                    </a:p>
                  </a:txBody>
                  <a:tcPr marT="50800" marB="50800" anchor="ctr">
                    <a:solidFill>
                      <a:srgbClr val="FFEBE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343400"/>
            <a:ext cx="11064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A1F26"/>
                </a:solidFill>
                <a:latin typeface="Calibri"/>
              </a:rPr>
              <a:t>Akar masalah: rentang skor orang-sama (5.000–9.000) dan orang-beda (9.000–11.000) SALING TUMPANG TINDIH.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5606A"/>
                </a:solidFill>
                <a:latin typeface="Calibri"/>
              </a:rPr>
              <a:t>Piksel mentah lebih merepresentasikan pencahayaan/pose/jarak daripada identitas. Menurunkan ambang hanya memindahkan masalah jadi false rejection. → Perlu ganti representasi fitur.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606A"/>
                </a:solidFill>
                <a:latin typeface="Calibri"/>
              </a:rPr>
              <a:t>Sistem Pembayaran Berbasis Pengenalan Wajah  ·  AI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606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4A017"/>
                </a:solidFill>
                <a:latin typeface="Calibri"/>
              </a:rPr>
              <a:t>4 · HASIL &amp; PEMBAHASAN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Pendekatan Akhir: FaceNet + Cosine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F26"/>
                </a:solidFill>
                <a:latin typeface="Calibri"/>
              </a:rPr>
              <a:t>Fitur = embedding FaceNet (128-d) · KNN jarak kosinus · ambang 0,40. Skenario yang sama diuji ulang: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1064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468880"/>
                <a:gridCol w="2194560"/>
                <a:gridCol w="2468880"/>
              </a:tblGrid>
              <a:tr h="41148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Skenario</a:t>
                      </a:r>
                    </a:p>
                  </a:txBody>
                  <a:tcPr marT="38100" marB="38100" anchor="ctr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Jarak Kosinus</a:t>
                      </a:r>
                    </a:p>
                  </a:txBody>
                  <a:tcPr marT="38100" marB="38100" anchor="ctr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Keputusan</a:t>
                      </a:r>
                    </a:p>
                  </a:txBody>
                  <a:tcPr marT="38100" marB="38100" anchor="ctr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Penilaian</a:t>
                      </a:r>
                    </a:p>
                  </a:txBody>
                  <a:tcPr marT="38100" marB="38100" anchor="ctr">
                    <a:solidFill>
                      <a:srgbClr val="0F1B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1F26"/>
                          </a:solidFill>
                          <a:latin typeface="Calibri"/>
                        </a:rPr>
                        <a:t>Wajah sendiri (genuine)</a:t>
                      </a:r>
                    </a:p>
                  </a:txBody>
                  <a:tcPr marT="38100" marB="38100" anchor="ctr">
                    <a:solidFill>
                      <a:srgbClr val="DAF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1F26"/>
                          </a:solidFill>
                          <a:latin typeface="Calibri"/>
                        </a:rPr>
                        <a:t>0,0997</a:t>
                      </a:r>
                    </a:p>
                  </a:txBody>
                  <a:tcPr marT="38100" marB="38100" anchor="ctr">
                    <a:solidFill>
                      <a:srgbClr val="DAF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A7F37"/>
                          </a:solidFill>
                          <a:latin typeface="Calibri"/>
                        </a:rPr>
                        <a:t>DITERIMA</a:t>
                      </a:r>
                    </a:p>
                  </a:txBody>
                  <a:tcPr marT="38100" marB="38100" anchor="ctr">
                    <a:solidFill>
                      <a:srgbClr val="DAF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7F37"/>
                          </a:solidFill>
                          <a:latin typeface="Calibri"/>
                        </a:rPr>
                        <a:t>Benar</a:t>
                      </a:r>
                    </a:p>
                  </a:txBody>
                  <a:tcPr marT="38100" marB="38100" anchor="ctr">
                    <a:solidFill>
                      <a:srgbClr val="DAF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1F26"/>
                          </a:solidFill>
                          <a:latin typeface="Calibri"/>
                        </a:rPr>
                        <a:t>Impostor — uji 1</a:t>
                      </a:r>
                    </a:p>
                  </a:txBody>
                  <a:tcPr marT="38100" marB="38100" anchor="ctr">
                    <a:solidFill>
                      <a:srgbClr val="DAF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1F26"/>
                          </a:solidFill>
                          <a:latin typeface="Calibri"/>
                        </a:rPr>
                        <a:t>0,6652</a:t>
                      </a:r>
                    </a:p>
                  </a:txBody>
                  <a:tcPr marT="38100" marB="38100" anchor="ctr">
                    <a:solidFill>
                      <a:srgbClr val="DAF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A7F37"/>
                          </a:solidFill>
                          <a:latin typeface="Calibri"/>
                        </a:rPr>
                        <a:t>DITOLAK</a:t>
                      </a:r>
                    </a:p>
                  </a:txBody>
                  <a:tcPr marT="38100" marB="38100" anchor="ctr">
                    <a:solidFill>
                      <a:srgbClr val="DAF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7F37"/>
                          </a:solidFill>
                          <a:latin typeface="Calibri"/>
                        </a:rPr>
                        <a:t>Benar</a:t>
                      </a:r>
                    </a:p>
                  </a:txBody>
                  <a:tcPr marT="38100" marB="38100" anchor="ctr">
                    <a:solidFill>
                      <a:srgbClr val="DAF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1F26"/>
                          </a:solidFill>
                          <a:latin typeface="Calibri"/>
                        </a:rPr>
                        <a:t>Impostor — uji 2</a:t>
                      </a:r>
                    </a:p>
                  </a:txBody>
                  <a:tcPr marT="38100" marB="38100" anchor="ctr">
                    <a:solidFill>
                      <a:srgbClr val="DAF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1F26"/>
                          </a:solidFill>
                          <a:latin typeface="Calibri"/>
                        </a:rPr>
                        <a:t>0,6140</a:t>
                      </a:r>
                    </a:p>
                  </a:txBody>
                  <a:tcPr marT="38100" marB="38100" anchor="ctr">
                    <a:solidFill>
                      <a:srgbClr val="DAF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A7F37"/>
                          </a:solidFill>
                          <a:latin typeface="Calibri"/>
                        </a:rPr>
                        <a:t>DITOLAK</a:t>
                      </a:r>
                    </a:p>
                  </a:txBody>
                  <a:tcPr marT="38100" marB="38100" anchor="ctr">
                    <a:solidFill>
                      <a:srgbClr val="DAF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7F37"/>
                          </a:solidFill>
                          <a:latin typeface="Calibri"/>
                        </a:rPr>
                        <a:t>Benar</a:t>
                      </a:r>
                    </a:p>
                  </a:txBody>
                  <a:tcPr marT="38100" marB="38100" anchor="ctr">
                    <a:solidFill>
                      <a:srgbClr val="DAF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1F26"/>
                          </a:solidFill>
                          <a:latin typeface="Calibri"/>
                        </a:rPr>
                        <a:t>Impostor — uji 3 &amp; 4</a:t>
                      </a:r>
                    </a:p>
                  </a:txBody>
                  <a:tcPr marT="38100" marB="38100" anchor="ctr">
                    <a:solidFill>
                      <a:srgbClr val="DAF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1F26"/>
                          </a:solidFill>
                          <a:latin typeface="Calibri"/>
                        </a:rPr>
                        <a:t>0,63 – 0,65</a:t>
                      </a:r>
                    </a:p>
                  </a:txBody>
                  <a:tcPr marT="38100" marB="38100" anchor="ctr">
                    <a:solidFill>
                      <a:srgbClr val="DAF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A7F37"/>
                          </a:solidFill>
                          <a:latin typeface="Calibri"/>
                        </a:rPr>
                        <a:t>DITOLAK</a:t>
                      </a:r>
                    </a:p>
                  </a:txBody>
                  <a:tcPr marT="38100" marB="38100" anchor="ctr">
                    <a:solidFill>
                      <a:srgbClr val="DAF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7F37"/>
                          </a:solidFill>
                          <a:latin typeface="Calibri"/>
                        </a:rPr>
                        <a:t>Benar</a:t>
                      </a:r>
                    </a:p>
                  </a:txBody>
                  <a:tcPr marT="38100" marB="38100" anchor="ctr">
                    <a:solidFill>
                      <a:srgbClr val="DAF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1F26"/>
                          </a:solidFill>
                          <a:latin typeface="Calibri"/>
                        </a:rPr>
                        <a:t>Serangan foto (spoofing)</a:t>
                      </a:r>
                    </a:p>
                  </a:txBody>
                  <a:tcPr marT="38100" marB="38100" anchor="ctr">
                    <a:solidFill>
                      <a:srgbClr val="DAF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1F26"/>
                          </a:solidFill>
                          <a:latin typeface="Calibri"/>
                        </a:rPr>
                        <a:t>— (liveness)</a:t>
                      </a:r>
                    </a:p>
                  </a:txBody>
                  <a:tcPr marT="38100" marB="38100" anchor="ctr">
                    <a:solidFill>
                      <a:srgbClr val="DAF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A7F37"/>
                          </a:solidFill>
                          <a:latin typeface="Calibri"/>
                        </a:rPr>
                        <a:t>DITOLAK</a:t>
                      </a:r>
                    </a:p>
                  </a:txBody>
                  <a:tcPr marT="38100" marB="38100" anchor="ctr">
                    <a:solidFill>
                      <a:srgbClr val="DAF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50">
                          <a:solidFill>
                            <a:srgbClr val="1A7F37"/>
                          </a:solidFill>
                          <a:latin typeface="Calibri"/>
                        </a:rPr>
                        <a:t>Benar</a:t>
                      </a:r>
                    </a:p>
                  </a:txBody>
                  <a:tcPr marT="38100" marB="38100" anchor="ctr">
                    <a:solidFill>
                      <a:srgbClr val="DAFBE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7F37"/>
                </a:solidFill>
                <a:latin typeface="Calibri"/>
              </a:rPr>
              <a:t>Semua skenario BENAR. Zona pemisah sangat lebar: genuine ≈ 0,10 vs impostor ≥ 0,61 — terpisah &gt; 0,5, ambang 0,40 aman di tengah. Tidak ada lagi tumpang tindih.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606A"/>
                </a:solidFill>
                <a:latin typeface="Calibri"/>
              </a:rPr>
              <a:t>Sistem Pembayaran Berbasis Pengenalan Wajah  ·  AI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606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4A017"/>
                </a:solidFill>
                <a:latin typeface="Calibri"/>
              </a:rPr>
              <a:t>4 · PEMBAHASAN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Perbandingan Dua Pendekatan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206240"/>
                <a:gridCol w="3657600"/>
              </a:tblGrid>
              <a:tr h="54864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Aspek</a:t>
                      </a:r>
                    </a:p>
                  </a:txBody>
                  <a:tcPr marL="101600" anchor="ctr" marT="38100" marB="38100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Piksel + Euclidean</a:t>
                      </a:r>
                    </a:p>
                  </a:txBody>
                  <a:tcPr marL="101600" anchor="ctr" marT="38100" marB="38100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FaceNet + Cosine</a:t>
                      </a:r>
                    </a:p>
                  </a:txBody>
                  <a:tcPr marL="101600" anchor="ctr" marT="38100" marB="38100">
                    <a:solidFill>
                      <a:srgbClr val="0F1B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A1F26"/>
                          </a:solidFill>
                          <a:latin typeface="Calibri"/>
                        </a:rPr>
                        <a:t>Dimensi fitur</a:t>
                      </a:r>
                    </a:p>
                  </a:txBody>
                  <a:tcPr marL="101600"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F222E"/>
                          </a:solidFill>
                          <a:latin typeface="Calibri"/>
                        </a:rPr>
                        <a:t>30.000 (piksel mentah)</a:t>
                      </a:r>
                    </a:p>
                  </a:txBody>
                  <a:tcPr marL="101600"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A7F37"/>
                          </a:solidFill>
                          <a:latin typeface="Calibri"/>
                        </a:rPr>
                        <a:t>128 (embedding)</a:t>
                      </a:r>
                    </a:p>
                  </a:txBody>
                  <a:tcPr marL="101600" anchor="ctr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A1F26"/>
                          </a:solidFill>
                          <a:latin typeface="Calibri"/>
                        </a:rPr>
                        <a:t>Skor genuine</a:t>
                      </a:r>
                    </a:p>
                  </a:txBody>
                  <a:tcPr marL="101600" anchor="ctr" marT="38100" marB="381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F222E"/>
                          </a:solidFill>
                          <a:latin typeface="Calibri"/>
                        </a:rPr>
                        <a:t>5.000 – 9.000</a:t>
                      </a:r>
                    </a:p>
                  </a:txBody>
                  <a:tcPr marL="101600" anchor="ctr" marT="38100" marB="381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A7F37"/>
                          </a:solidFill>
                          <a:latin typeface="Calibri"/>
                        </a:rPr>
                        <a:t>0,10 – 0,30</a:t>
                      </a:r>
                    </a:p>
                  </a:txBody>
                  <a:tcPr marL="101600" anchor="ctr" marT="38100" marB="38100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A1F26"/>
                          </a:solidFill>
                          <a:latin typeface="Calibri"/>
                        </a:rPr>
                        <a:t>Skor impostor</a:t>
                      </a:r>
                    </a:p>
                  </a:txBody>
                  <a:tcPr marL="101600"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F222E"/>
                          </a:solidFill>
                          <a:latin typeface="Calibri"/>
                        </a:rPr>
                        <a:t>9.000 – 11.000 (tumpang tindih)</a:t>
                      </a:r>
                    </a:p>
                  </a:txBody>
                  <a:tcPr marL="101600"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A7F37"/>
                          </a:solidFill>
                          <a:latin typeface="Calibri"/>
                        </a:rPr>
                        <a:t>0,61 – 0,67 (terpisah)</a:t>
                      </a:r>
                    </a:p>
                  </a:txBody>
                  <a:tcPr marL="101600" anchor="ctr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A1F26"/>
                          </a:solidFill>
                          <a:latin typeface="Calibri"/>
                        </a:rPr>
                        <a:t>False acceptance</a:t>
                      </a:r>
                    </a:p>
                  </a:txBody>
                  <a:tcPr marL="101600" anchor="ctr" marT="38100" marB="381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F222E"/>
                          </a:solidFill>
                          <a:latin typeface="Calibri"/>
                        </a:rPr>
                        <a:t>TERJADI (2 kasus)</a:t>
                      </a:r>
                    </a:p>
                  </a:txBody>
                  <a:tcPr marL="101600" anchor="ctr" marT="38100" marB="381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A7F37"/>
                          </a:solidFill>
                          <a:latin typeface="Calibri"/>
                        </a:rPr>
                        <a:t>Tidak terjadi</a:t>
                      </a:r>
                    </a:p>
                  </a:txBody>
                  <a:tcPr marL="101600" anchor="ctr" marT="38100" marB="38100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A1F26"/>
                          </a:solidFill>
                          <a:latin typeface="Calibri"/>
                        </a:rPr>
                        <a:t>Sensitif cahaya/jarak</a:t>
                      </a:r>
                    </a:p>
                  </a:txBody>
                  <a:tcPr marL="101600"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F222E"/>
                          </a:solidFill>
                          <a:latin typeface="Calibri"/>
                        </a:rPr>
                        <a:t>Tinggi</a:t>
                      </a:r>
                    </a:p>
                  </a:txBody>
                  <a:tcPr marL="101600"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A7F37"/>
                          </a:solidFill>
                          <a:latin typeface="Calibri"/>
                        </a:rPr>
                        <a:t>Rendah</a:t>
                      </a:r>
                    </a:p>
                  </a:txBody>
                  <a:tcPr marL="101600"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074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55606A"/>
                </a:solidFill>
                <a:latin typeface="Calibri"/>
              </a:rPr>
              <a:t>Inti temuan: dengan algoritma pencocokan yang SAMA (KNN, k=5), mengganti fitur dari piksel mentah ke embedding deep learning mengubah sistem dari rentan false acceptance menjadi aman.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606A"/>
                </a:solidFill>
                <a:latin typeface="Calibri"/>
              </a:rPr>
              <a:t>Sistem Pembayaran Berbasis Pengenalan Wajah  ·  AI Programming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606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4A017"/>
                </a:solidFill>
                <a:latin typeface="Calibri"/>
              </a:rPr>
              <a:t>4 · PENUTUP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Kesimpulan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46304" cy="86868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45920"/>
            <a:ext cx="9966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1F26"/>
                </a:solidFill>
                <a:latin typeface="Calibri"/>
              </a:rPr>
              <a:t>Prototipe sistem pembayaran berbasis wajah berhasil dibangun &amp; di-deploy end-to-end pada server nyata.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9192"/>
            <a:ext cx="146304" cy="86868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862072"/>
            <a:ext cx="457200" cy="457200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24912"/>
            <a:ext cx="9966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1F26"/>
                </a:solidFill>
                <a:latin typeface="Calibri"/>
              </a:rPr>
              <a:t>Pipeline AI final — Haar Cascade, FaceNet 128-d, KNN cosine (0,40), anti-spoofing MiniFASNet — lulus semua skenario: genuine diterima (0,0997), 4 impostor ditolak (0,61–0,67), foto ditolak di tahap liveness.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58184"/>
            <a:ext cx="146304" cy="86868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3941064"/>
            <a:ext cx="457200" cy="457200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03904"/>
            <a:ext cx="9966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1F26"/>
                </a:solidFill>
                <a:latin typeface="Calibri"/>
              </a:rPr>
              <a:t>Migrasi dari piksel mentah ke embedding deep learning adalah perbaikan paling berdampak — menghilangkan false acceptance.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37176"/>
            <a:ext cx="146304" cy="868680"/>
          </a:xfrm>
          <a:prstGeom prst="rect">
            <a:avLst/>
          </a:pr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020056"/>
            <a:ext cx="457200" cy="457200"/>
          </a:xfrm>
          <a:prstGeom prst="ellipse">
            <a:avLst/>
          </a:pr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882896"/>
            <a:ext cx="9966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1F26"/>
                </a:solidFill>
                <a:latin typeface="Calibri"/>
              </a:rPr>
              <a:t>Anti-spoofing wajib: tanpa liveness, foto pemilik akun lolos pencocokan identitas.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606A"/>
                </a:solidFill>
                <a:latin typeface="Calibri"/>
              </a:rPr>
              <a:t>Sistem Pembayaran Berbasis Pengenalan Wajah  ·  AI Programming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606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381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D4A017"/>
                </a:solidFill>
                <a:latin typeface="Calibri"/>
              </a:rPr>
              <a:t>Sesi tanya jawab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C9D3E0"/>
                </a:solidFill>
                <a:latin typeface="Calibri"/>
              </a:rPr>
              <a:t>Heydie Zuliansyah  ·  NIM 223250047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5606A"/>
                </a:solidFill>
                <a:latin typeface="Calibri"/>
              </a:rPr>
              <a:t>Teknik Informatika — Universitas AKI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